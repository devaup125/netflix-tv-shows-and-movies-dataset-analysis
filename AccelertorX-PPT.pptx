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7" r:id="rId10"/>
    <p:sldId id="266" r:id="rId11"/>
    <p:sldId id="268" r:id="rId12"/>
    <p:sldId id="269" r:id="rId13"/>
    <p:sldId id="270" r:id="rId14"/>
    <p:sldId id="263" r:id="rId15"/>
    <p:sldId id="264" r:id="rId16"/>
    <p:sldId id="265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Bungee" panose="020B0604020202020204" charset="0"/>
      <p:regular r:id="rId22"/>
    </p:embeddedFont>
    <p:embeddedFont>
      <p:font typeface="Krub Bold" panose="020B0604020202020204" charset="-34"/>
      <p:regular r:id="rId23"/>
    </p:embeddedFont>
    <p:embeddedFont>
      <p:font typeface="Krub" panose="020B0604020202020204" charset="-3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0" Type="http://schemas.openxmlformats.org/officeDocument/2006/relationships/image" Target="../media/image5.jfif"/><Relationship Id="rId9" Type="http://schemas.openxmlformats.org/officeDocument/2006/relationships/image" Target="../media/image4.jfif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web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9.pn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ebp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9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3.sv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5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sv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5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5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0" Type="http://schemas.openxmlformats.org/officeDocument/2006/relationships/image" Target="../media/image16.png"/><Relationship Id="rId4" Type="http://schemas.openxmlformats.org/officeDocument/2006/relationships/image" Target="../media/image13.svg"/><Relationship Id="rId9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19.png"/><Relationship Id="rId5" Type="http://schemas.openxmlformats.org/officeDocument/2006/relationships/image" Target="../media/image9.png"/><Relationship Id="rId10" Type="http://schemas.openxmlformats.org/officeDocument/2006/relationships/image" Target="../media/image18.png"/><Relationship Id="rId4" Type="http://schemas.openxmlformats.org/officeDocument/2006/relationships/image" Target="../media/image13.svg"/><Relationship Id="rId9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9.png"/><Relationship Id="rId10" Type="http://schemas.openxmlformats.org/officeDocument/2006/relationships/image" Target="../media/image20.png"/><Relationship Id="rId4" Type="http://schemas.openxmlformats.org/officeDocument/2006/relationships/image" Target="../media/image13.svg"/><Relationship Id="rId9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9.png"/><Relationship Id="rId10" Type="http://schemas.openxmlformats.org/officeDocument/2006/relationships/image" Target="../media/image21.png"/><Relationship Id="rId4" Type="http://schemas.openxmlformats.org/officeDocument/2006/relationships/image" Target="../media/image13.svg"/><Relationship Id="rId9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9.png"/><Relationship Id="rId10" Type="http://schemas.openxmlformats.org/officeDocument/2006/relationships/image" Target="../media/image22.png"/><Relationship Id="rId4" Type="http://schemas.openxmlformats.org/officeDocument/2006/relationships/image" Target="../media/image13.svg"/><Relationship Id="rId9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9.png"/><Relationship Id="rId4" Type="http://schemas.openxmlformats.org/officeDocument/2006/relationships/image" Target="../media/image13.svg"/><Relationship Id="rId9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3.svg"/><Relationship Id="rId7" Type="http://schemas.openxmlformats.org/officeDocument/2006/relationships/image" Target="../media/image2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5.svg"/><Relationship Id="rId10" Type="http://schemas.openxmlformats.org/officeDocument/2006/relationships/image" Target="../media/image25.jp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5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3.sv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81200" y="2664646"/>
            <a:ext cx="13244300" cy="4078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14"/>
              </a:lnSpc>
            </a:pPr>
            <a:r>
              <a:rPr lang="en-US" sz="16407" dirty="0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DATA analytics</a:t>
            </a:r>
            <a:endParaRPr lang="en-US" sz="16407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208884" y="7041092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3" y="0"/>
                </a:lnTo>
                <a:lnTo>
                  <a:pt x="5174923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74439" y="4973576"/>
            <a:ext cx="6733446" cy="7030847"/>
          </a:xfrm>
          <a:custGeom>
            <a:avLst/>
            <a:gdLst/>
            <a:ahLst/>
            <a:cxnLst/>
            <a:rect l="l" t="t" r="r" b="b"/>
            <a:pathLst>
              <a:path w="6733446" h="7030847">
                <a:moveTo>
                  <a:pt x="0" y="0"/>
                </a:moveTo>
                <a:lnTo>
                  <a:pt x="6733447" y="0"/>
                </a:lnTo>
                <a:lnTo>
                  <a:pt x="6733447" y="7030846"/>
                </a:lnTo>
                <a:lnTo>
                  <a:pt x="0" y="70308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953000" y="6673435"/>
            <a:ext cx="7970671" cy="1024972"/>
            <a:chOff x="0" y="-38100"/>
            <a:chExt cx="1326940" cy="269951"/>
          </a:xfrm>
        </p:grpSpPr>
        <p:sp>
          <p:nvSpPr>
            <p:cNvPr id="8" name="Freeform 8"/>
            <p:cNvSpPr/>
            <p:nvPr/>
          </p:nvSpPr>
          <p:spPr>
            <a:xfrm>
              <a:off x="22974" y="0"/>
              <a:ext cx="1303966" cy="231851"/>
            </a:xfrm>
            <a:custGeom>
              <a:avLst/>
              <a:gdLst/>
              <a:ahLst/>
              <a:cxnLst/>
              <a:rect l="l" t="t" r="r" b="b"/>
              <a:pathLst>
                <a:path w="1303966" h="231851">
                  <a:moveTo>
                    <a:pt x="79163" y="0"/>
                  </a:moveTo>
                  <a:lnTo>
                    <a:pt x="1224803" y="0"/>
                  </a:lnTo>
                  <a:cubicBezTo>
                    <a:pt x="1268523" y="0"/>
                    <a:pt x="1303966" y="35442"/>
                    <a:pt x="1303966" y="79163"/>
                  </a:cubicBezTo>
                  <a:lnTo>
                    <a:pt x="1303966" y="152689"/>
                  </a:lnTo>
                  <a:cubicBezTo>
                    <a:pt x="1303966" y="173684"/>
                    <a:pt x="1295625" y="193819"/>
                    <a:pt x="1280779" y="208665"/>
                  </a:cubicBezTo>
                  <a:cubicBezTo>
                    <a:pt x="1265933" y="223511"/>
                    <a:pt x="1245798" y="231851"/>
                    <a:pt x="1224803" y="231851"/>
                  </a:cubicBezTo>
                  <a:lnTo>
                    <a:pt x="79163" y="231851"/>
                  </a:lnTo>
                  <a:cubicBezTo>
                    <a:pt x="58168" y="231851"/>
                    <a:pt x="38032" y="223511"/>
                    <a:pt x="23186" y="208665"/>
                  </a:cubicBezTo>
                  <a:cubicBezTo>
                    <a:pt x="8340" y="193819"/>
                    <a:pt x="0" y="173684"/>
                    <a:pt x="0" y="152689"/>
                  </a:cubicBezTo>
                  <a:lnTo>
                    <a:pt x="0" y="79163"/>
                  </a:lnTo>
                  <a:cubicBezTo>
                    <a:pt x="0" y="58168"/>
                    <a:pt x="8340" y="38032"/>
                    <a:pt x="23186" y="23186"/>
                  </a:cubicBezTo>
                  <a:cubicBezTo>
                    <a:pt x="38032" y="8340"/>
                    <a:pt x="58168" y="0"/>
                    <a:pt x="7916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03966" cy="269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688449" y="-1851826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634152" y="6021083"/>
            <a:ext cx="6528787" cy="1601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6"/>
              </a:lnSpc>
            </a:pPr>
            <a:r>
              <a:rPr lang="en-US" sz="4547" b="1" spc="50" dirty="0" smtClean="0">
                <a:solidFill>
                  <a:schemeClr val="bg1"/>
                </a:solidFill>
                <a:latin typeface="Krub Bold"/>
                <a:ea typeface="Krub Bold"/>
                <a:cs typeface="Krub Bold"/>
                <a:sym typeface="Krub Bold"/>
              </a:rPr>
              <a:t>-</a:t>
            </a:r>
            <a:r>
              <a:rPr lang="en-US" sz="4547" b="1" spc="50" dirty="0" err="1" smtClean="0">
                <a:solidFill>
                  <a:schemeClr val="bg1"/>
                </a:solidFill>
                <a:latin typeface="Krub Bold"/>
                <a:ea typeface="Krub Bold"/>
                <a:cs typeface="Krub Bold"/>
                <a:sym typeface="Krub Bold"/>
              </a:rPr>
              <a:t>AcceleratorX</a:t>
            </a:r>
            <a:r>
              <a:rPr lang="en-US" sz="4547" b="1" spc="50" dirty="0" smtClean="0">
                <a:solidFill>
                  <a:schemeClr val="bg1"/>
                </a:solidFill>
                <a:latin typeface="Krub Bold"/>
                <a:ea typeface="Krub Bold"/>
                <a:cs typeface="Krub Bold"/>
                <a:sym typeface="Krub Bold"/>
              </a:rPr>
              <a:t>,</a:t>
            </a:r>
            <a:r>
              <a:rPr lang="en-IN" sz="4800" b="1" dirty="0" smtClean="0">
                <a:solidFill>
                  <a:schemeClr val="bg1"/>
                </a:solidFill>
              </a:rPr>
              <a:t>Bengaluru</a:t>
            </a:r>
            <a:endParaRPr lang="en-US" sz="4800" b="1" spc="50" dirty="0">
              <a:solidFill>
                <a:schemeClr val="bg1"/>
              </a:solidFill>
              <a:latin typeface="Krub Bold"/>
              <a:ea typeface="Krub Bold"/>
              <a:cs typeface="Krub Bold"/>
              <a:sym typeface="Krub Bold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5" y="17318"/>
            <a:ext cx="3221901" cy="33720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3417" y="0"/>
            <a:ext cx="3204583" cy="324268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5" name="TextBox 14"/>
          <p:cNvSpPr txBox="1"/>
          <p:nvPr/>
        </p:nvSpPr>
        <p:spPr>
          <a:xfrm>
            <a:off x="5091000" y="8489000"/>
            <a:ext cx="1112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Name-Devanshu </a:t>
            </a:r>
            <a:r>
              <a:rPr lang="en-GB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Ranjan</a:t>
            </a:r>
            <a:r>
              <a:rPr lang="en-GB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Upadhyay</a:t>
            </a:r>
          </a:p>
          <a:p>
            <a:r>
              <a:rPr lang="en-GB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Uni.Roll</a:t>
            </a:r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No: 2302840100080</a:t>
            </a:r>
          </a:p>
          <a:p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Supervision: </a:t>
            </a:r>
            <a:r>
              <a:rPr lang="en-IN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Aakash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Maurya</a:t>
            </a:r>
            <a:r>
              <a:rPr lang="en-IN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(Trainer at </a:t>
            </a:r>
            <a:r>
              <a:rPr lang="en-IN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AcceleratorX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&amp;  Sr.ML Engineer at </a:t>
            </a:r>
            <a:r>
              <a:rPr lang="en-IN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Nagarro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4495800" y="1028700"/>
            <a:ext cx="10352470" cy="898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1" dirty="0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Table  of content</a:t>
            </a:r>
            <a:endParaRPr lang="en-US" sz="6846" b="1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3" name="Freeform 13"/>
          <p:cNvSpPr/>
          <p:nvPr/>
        </p:nvSpPr>
        <p:spPr>
          <a:xfrm rot="-10321493">
            <a:off x="-1145894" y="-1441439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Rectangle 14"/>
          <p:cNvSpPr/>
          <p:nvPr/>
        </p:nvSpPr>
        <p:spPr>
          <a:xfrm>
            <a:off x="2209800" y="2324100"/>
            <a:ext cx="7620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GB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  <a:endParaRPr lang="en-GB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</a:t>
            </a:r>
            <a:r>
              <a:rPr lang="en-GB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GB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GB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GB" sz="4000" b="1" i="0" dirty="0">
              <a:solidFill>
                <a:srgbClr val="0070C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324100"/>
            <a:ext cx="7975600" cy="59817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8566" y="2739156"/>
            <a:ext cx="5271005" cy="5133871"/>
            <a:chOff x="0" y="0"/>
            <a:chExt cx="1388248" cy="1352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8248" cy="1352131"/>
            </a:xfrm>
            <a:custGeom>
              <a:avLst/>
              <a:gdLst/>
              <a:ahLst/>
              <a:cxnLst/>
              <a:rect l="l" t="t" r="r" b="b"/>
              <a:pathLst>
                <a:path w="1388248" h="1352131">
                  <a:moveTo>
                    <a:pt x="74357" y="0"/>
                  </a:moveTo>
                  <a:lnTo>
                    <a:pt x="1313892" y="0"/>
                  </a:lnTo>
                  <a:cubicBezTo>
                    <a:pt x="1333612" y="0"/>
                    <a:pt x="1352525" y="7834"/>
                    <a:pt x="1366470" y="21779"/>
                  </a:cubicBezTo>
                  <a:cubicBezTo>
                    <a:pt x="1380414" y="35723"/>
                    <a:pt x="1388248" y="54636"/>
                    <a:pt x="1388248" y="74357"/>
                  </a:cubicBezTo>
                  <a:lnTo>
                    <a:pt x="1388248" y="1277774"/>
                  </a:lnTo>
                  <a:cubicBezTo>
                    <a:pt x="1388248" y="1318840"/>
                    <a:pt x="1354958" y="1352131"/>
                    <a:pt x="1313892" y="1352131"/>
                  </a:cubicBezTo>
                  <a:lnTo>
                    <a:pt x="74357" y="1352131"/>
                  </a:lnTo>
                  <a:cubicBezTo>
                    <a:pt x="54636" y="1352131"/>
                    <a:pt x="35723" y="1344297"/>
                    <a:pt x="21779" y="1330352"/>
                  </a:cubicBezTo>
                  <a:cubicBezTo>
                    <a:pt x="7834" y="1316407"/>
                    <a:pt x="0" y="1297495"/>
                    <a:pt x="0" y="1277774"/>
                  </a:cubicBezTo>
                  <a:lnTo>
                    <a:pt x="0" y="74357"/>
                  </a:lnTo>
                  <a:cubicBezTo>
                    <a:pt x="0" y="54636"/>
                    <a:pt x="7834" y="35723"/>
                    <a:pt x="21779" y="21779"/>
                  </a:cubicBezTo>
                  <a:cubicBezTo>
                    <a:pt x="35723" y="7834"/>
                    <a:pt x="54636" y="0"/>
                    <a:pt x="743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88248" cy="1390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66387" y="2739156"/>
            <a:ext cx="5271005" cy="5133871"/>
            <a:chOff x="0" y="0"/>
            <a:chExt cx="1388248" cy="1352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8248" cy="1352131"/>
            </a:xfrm>
            <a:custGeom>
              <a:avLst/>
              <a:gdLst/>
              <a:ahLst/>
              <a:cxnLst/>
              <a:rect l="l" t="t" r="r" b="b"/>
              <a:pathLst>
                <a:path w="1388248" h="1352131">
                  <a:moveTo>
                    <a:pt x="74357" y="0"/>
                  </a:moveTo>
                  <a:lnTo>
                    <a:pt x="1313892" y="0"/>
                  </a:lnTo>
                  <a:cubicBezTo>
                    <a:pt x="1333612" y="0"/>
                    <a:pt x="1352525" y="7834"/>
                    <a:pt x="1366470" y="21779"/>
                  </a:cubicBezTo>
                  <a:cubicBezTo>
                    <a:pt x="1380414" y="35723"/>
                    <a:pt x="1388248" y="54636"/>
                    <a:pt x="1388248" y="74357"/>
                  </a:cubicBezTo>
                  <a:lnTo>
                    <a:pt x="1388248" y="1277774"/>
                  </a:lnTo>
                  <a:cubicBezTo>
                    <a:pt x="1388248" y="1318840"/>
                    <a:pt x="1354958" y="1352131"/>
                    <a:pt x="1313892" y="1352131"/>
                  </a:cubicBezTo>
                  <a:lnTo>
                    <a:pt x="74357" y="1352131"/>
                  </a:lnTo>
                  <a:cubicBezTo>
                    <a:pt x="54636" y="1352131"/>
                    <a:pt x="35723" y="1344297"/>
                    <a:pt x="21779" y="1330352"/>
                  </a:cubicBezTo>
                  <a:cubicBezTo>
                    <a:pt x="7834" y="1316407"/>
                    <a:pt x="0" y="1297495"/>
                    <a:pt x="0" y="1277774"/>
                  </a:cubicBezTo>
                  <a:lnTo>
                    <a:pt x="0" y="74357"/>
                  </a:lnTo>
                  <a:cubicBezTo>
                    <a:pt x="0" y="54636"/>
                    <a:pt x="7834" y="35723"/>
                    <a:pt x="21779" y="21779"/>
                  </a:cubicBezTo>
                  <a:cubicBezTo>
                    <a:pt x="35723" y="7834"/>
                    <a:pt x="54636" y="0"/>
                    <a:pt x="743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88248" cy="1390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322701" y="2057400"/>
            <a:ext cx="4464558" cy="8229600"/>
          </a:xfrm>
          <a:custGeom>
            <a:avLst/>
            <a:gdLst/>
            <a:ahLst/>
            <a:cxnLst/>
            <a:rect l="l" t="t" r="r" b="b"/>
            <a:pathLst>
              <a:path w="4464558" h="8229600">
                <a:moveTo>
                  <a:pt x="0" y="0"/>
                </a:moveTo>
                <a:lnTo>
                  <a:pt x="4464558" y="0"/>
                </a:lnTo>
                <a:lnTo>
                  <a:pt x="44645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439749" y="1013505"/>
            <a:ext cx="8641686" cy="102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Introduction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3545" y="3119892"/>
            <a:ext cx="4083401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760190" y="3119892"/>
            <a:ext cx="4083401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14" name="Freeform 14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Rectangle 14"/>
          <p:cNvSpPr/>
          <p:nvPr/>
        </p:nvSpPr>
        <p:spPr>
          <a:xfrm>
            <a:off x="1577004" y="3043933"/>
            <a:ext cx="489648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</a:t>
            </a:r>
            <a:r>
              <a:rPr lang="en-GB" sz="24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from Netflix TV shows and movies using Python</a:t>
            </a:r>
            <a:r>
              <a:rPr lang="en-GB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GB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 a publicly available dataset from </a:t>
            </a:r>
            <a:r>
              <a:rPr lang="en-GB" sz="24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GB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explore different features like type, genre, release year, and duration</a:t>
            </a:r>
            <a:r>
              <a:rPr lang="en-GB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GB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understand patterns and trends in Netflix content using data analysis techniques</a:t>
            </a:r>
            <a:r>
              <a:rPr lang="en-GB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45108" y="3289137"/>
            <a:ext cx="47371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GB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will visualize the data, check for missing values, engineer new features, detect outliers, and even build a simple prediction model</a:t>
            </a:r>
            <a:r>
              <a:rPr lang="en-GB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 startAt="4"/>
            </a:pPr>
            <a:endParaRPr lang="en-GB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GB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to learn how data can provide valuable insights for decision-making in entertainment platforms like Netflix</a:t>
            </a:r>
            <a:endParaRPr lang="en-GB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9802" y="755873"/>
            <a:ext cx="10517519" cy="898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Problem statement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461917" y="2710917"/>
            <a:ext cx="5271005" cy="5133871"/>
            <a:chOff x="0" y="0"/>
            <a:chExt cx="1388248" cy="1352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8248" cy="1352131"/>
            </a:xfrm>
            <a:custGeom>
              <a:avLst/>
              <a:gdLst/>
              <a:ahLst/>
              <a:cxnLst/>
              <a:rect l="l" t="t" r="r" b="b"/>
              <a:pathLst>
                <a:path w="1388248" h="1352131">
                  <a:moveTo>
                    <a:pt x="74357" y="0"/>
                  </a:moveTo>
                  <a:lnTo>
                    <a:pt x="1313892" y="0"/>
                  </a:lnTo>
                  <a:cubicBezTo>
                    <a:pt x="1333612" y="0"/>
                    <a:pt x="1352525" y="7834"/>
                    <a:pt x="1366470" y="21779"/>
                  </a:cubicBezTo>
                  <a:cubicBezTo>
                    <a:pt x="1380414" y="35723"/>
                    <a:pt x="1388248" y="54636"/>
                    <a:pt x="1388248" y="74357"/>
                  </a:cubicBezTo>
                  <a:lnTo>
                    <a:pt x="1388248" y="1277774"/>
                  </a:lnTo>
                  <a:cubicBezTo>
                    <a:pt x="1388248" y="1318840"/>
                    <a:pt x="1354958" y="1352131"/>
                    <a:pt x="1313892" y="1352131"/>
                  </a:cubicBezTo>
                  <a:lnTo>
                    <a:pt x="74357" y="1352131"/>
                  </a:lnTo>
                  <a:cubicBezTo>
                    <a:pt x="54636" y="1352131"/>
                    <a:pt x="35723" y="1344297"/>
                    <a:pt x="21779" y="1330352"/>
                  </a:cubicBezTo>
                  <a:cubicBezTo>
                    <a:pt x="7834" y="1316407"/>
                    <a:pt x="0" y="1297495"/>
                    <a:pt x="0" y="1277774"/>
                  </a:cubicBezTo>
                  <a:lnTo>
                    <a:pt x="0" y="74357"/>
                  </a:lnTo>
                  <a:cubicBezTo>
                    <a:pt x="0" y="54636"/>
                    <a:pt x="7834" y="35723"/>
                    <a:pt x="21779" y="21779"/>
                  </a:cubicBezTo>
                  <a:cubicBezTo>
                    <a:pt x="35723" y="7834"/>
                    <a:pt x="54636" y="0"/>
                    <a:pt x="743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88248" cy="1390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238562" y="2710917"/>
            <a:ext cx="9071109" cy="5133871"/>
            <a:chOff x="0" y="0"/>
            <a:chExt cx="2389099" cy="1352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099" cy="1352131"/>
            </a:xfrm>
            <a:custGeom>
              <a:avLst/>
              <a:gdLst/>
              <a:ahLst/>
              <a:cxnLst/>
              <a:rect l="l" t="t" r="r" b="b"/>
              <a:pathLst>
                <a:path w="2389099" h="1352131">
                  <a:moveTo>
                    <a:pt x="43207" y="0"/>
                  </a:moveTo>
                  <a:lnTo>
                    <a:pt x="2345892" y="0"/>
                  </a:lnTo>
                  <a:cubicBezTo>
                    <a:pt x="2357351" y="0"/>
                    <a:pt x="2368341" y="4552"/>
                    <a:pt x="2376444" y="12655"/>
                  </a:cubicBezTo>
                  <a:cubicBezTo>
                    <a:pt x="2384547" y="20758"/>
                    <a:pt x="2389099" y="31748"/>
                    <a:pt x="2389099" y="43207"/>
                  </a:cubicBezTo>
                  <a:lnTo>
                    <a:pt x="2389099" y="1308924"/>
                  </a:lnTo>
                  <a:cubicBezTo>
                    <a:pt x="2389099" y="1320383"/>
                    <a:pt x="2384547" y="1331373"/>
                    <a:pt x="2376444" y="1339476"/>
                  </a:cubicBezTo>
                  <a:cubicBezTo>
                    <a:pt x="2368341" y="1347579"/>
                    <a:pt x="2357351" y="1352131"/>
                    <a:pt x="2345892" y="1352131"/>
                  </a:cubicBezTo>
                  <a:lnTo>
                    <a:pt x="43207" y="1352131"/>
                  </a:lnTo>
                  <a:cubicBezTo>
                    <a:pt x="31748" y="1352131"/>
                    <a:pt x="20758" y="1347579"/>
                    <a:pt x="12655" y="1339476"/>
                  </a:cubicBezTo>
                  <a:cubicBezTo>
                    <a:pt x="4552" y="1331373"/>
                    <a:pt x="0" y="1320383"/>
                    <a:pt x="0" y="1308924"/>
                  </a:cubicBezTo>
                  <a:lnTo>
                    <a:pt x="0" y="43207"/>
                  </a:lnTo>
                  <a:cubicBezTo>
                    <a:pt x="0" y="31748"/>
                    <a:pt x="4552" y="20758"/>
                    <a:pt x="12655" y="12655"/>
                  </a:cubicBezTo>
                  <a:cubicBezTo>
                    <a:pt x="20758" y="4552"/>
                    <a:pt x="31748" y="0"/>
                    <a:pt x="432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192385">
                      <a:alpha val="100000"/>
                    </a:srgbClr>
                  </a:gs>
                  <a:gs pos="100000">
                    <a:srgbClr val="2D8BBA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389099" cy="1390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6416" y="2876807"/>
            <a:ext cx="4493455" cy="5160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Netflix has a huge collection of shows and movies—but what stories does the data tell?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types of content are popular? How do features like genre and release year change over time?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we use data to guess the release year based on other details?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explore the data, find patterns, and answer these questions together!</a:t>
            </a:r>
          </a:p>
          <a:p>
            <a:pPr algn="l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14" name="Freeform 14"/>
          <p:cNvSpPr/>
          <p:nvPr/>
        </p:nvSpPr>
        <p:spPr>
          <a:xfrm flipH="1" flipV="1">
            <a:off x="12408573" y="-11430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690" y="3086100"/>
            <a:ext cx="8900849" cy="4183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95600" y="876300"/>
            <a:ext cx="814279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 err="1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ProJECT</a:t>
            </a:r>
            <a:r>
              <a:rPr lang="en-US" sz="6846" dirty="0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 SCOPE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2230282" y="2566256"/>
            <a:ext cx="4101516" cy="5969882"/>
            <a:chOff x="0" y="-38100"/>
            <a:chExt cx="1080235" cy="1572315"/>
          </a:xfrm>
        </p:grpSpPr>
        <p:sp>
          <p:nvSpPr>
            <p:cNvPr id="4" name="Freeform 4"/>
            <p:cNvSpPr/>
            <p:nvPr/>
          </p:nvSpPr>
          <p:spPr>
            <a:xfrm>
              <a:off x="11744" y="0"/>
              <a:ext cx="1068491" cy="1534215"/>
            </a:xfrm>
            <a:custGeom>
              <a:avLst/>
              <a:gdLst/>
              <a:ahLst/>
              <a:cxnLst/>
              <a:rect l="l" t="t" r="r" b="b"/>
              <a:pathLst>
                <a:path w="1068491" h="1534215">
                  <a:moveTo>
                    <a:pt x="96609" y="0"/>
                  </a:moveTo>
                  <a:lnTo>
                    <a:pt x="971882" y="0"/>
                  </a:lnTo>
                  <a:cubicBezTo>
                    <a:pt x="1025238" y="0"/>
                    <a:pt x="1068491" y="43253"/>
                    <a:pt x="1068491" y="96609"/>
                  </a:cubicBezTo>
                  <a:lnTo>
                    <a:pt x="1068491" y="1437606"/>
                  </a:lnTo>
                  <a:cubicBezTo>
                    <a:pt x="1068491" y="1463228"/>
                    <a:pt x="1058312" y="1487801"/>
                    <a:pt x="1040195" y="1505919"/>
                  </a:cubicBezTo>
                  <a:cubicBezTo>
                    <a:pt x="1022077" y="1524036"/>
                    <a:pt x="997504" y="1534215"/>
                    <a:pt x="971882" y="1534215"/>
                  </a:cubicBezTo>
                  <a:lnTo>
                    <a:pt x="96609" y="1534215"/>
                  </a:lnTo>
                  <a:cubicBezTo>
                    <a:pt x="70987" y="1534215"/>
                    <a:pt x="46414" y="1524036"/>
                    <a:pt x="28296" y="1505919"/>
                  </a:cubicBezTo>
                  <a:cubicBezTo>
                    <a:pt x="10178" y="1487801"/>
                    <a:pt x="0" y="1463228"/>
                    <a:pt x="0" y="1437606"/>
                  </a:cubicBezTo>
                  <a:lnTo>
                    <a:pt x="0" y="96609"/>
                  </a:lnTo>
                  <a:cubicBezTo>
                    <a:pt x="0" y="70987"/>
                    <a:pt x="10178" y="46414"/>
                    <a:pt x="28296" y="28296"/>
                  </a:cubicBezTo>
                  <a:cubicBezTo>
                    <a:pt x="46414" y="10178"/>
                    <a:pt x="70987" y="0"/>
                    <a:pt x="9660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68491" cy="1572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79594" y="2710917"/>
            <a:ext cx="4056926" cy="5825221"/>
            <a:chOff x="0" y="0"/>
            <a:chExt cx="1068491" cy="15342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8491" cy="1534215"/>
            </a:xfrm>
            <a:custGeom>
              <a:avLst/>
              <a:gdLst/>
              <a:ahLst/>
              <a:cxnLst/>
              <a:rect l="l" t="t" r="r" b="b"/>
              <a:pathLst>
                <a:path w="1068491" h="1534215">
                  <a:moveTo>
                    <a:pt x="96609" y="0"/>
                  </a:moveTo>
                  <a:lnTo>
                    <a:pt x="971882" y="0"/>
                  </a:lnTo>
                  <a:cubicBezTo>
                    <a:pt x="1025238" y="0"/>
                    <a:pt x="1068491" y="43253"/>
                    <a:pt x="1068491" y="96609"/>
                  </a:cubicBezTo>
                  <a:lnTo>
                    <a:pt x="1068491" y="1437606"/>
                  </a:lnTo>
                  <a:cubicBezTo>
                    <a:pt x="1068491" y="1463228"/>
                    <a:pt x="1058312" y="1487801"/>
                    <a:pt x="1040195" y="1505919"/>
                  </a:cubicBezTo>
                  <a:cubicBezTo>
                    <a:pt x="1022077" y="1524036"/>
                    <a:pt x="997504" y="1534215"/>
                    <a:pt x="971882" y="1534215"/>
                  </a:cubicBezTo>
                  <a:lnTo>
                    <a:pt x="96609" y="1534215"/>
                  </a:lnTo>
                  <a:cubicBezTo>
                    <a:pt x="70987" y="1534215"/>
                    <a:pt x="46414" y="1524036"/>
                    <a:pt x="28296" y="1505919"/>
                  </a:cubicBezTo>
                  <a:cubicBezTo>
                    <a:pt x="10178" y="1487801"/>
                    <a:pt x="0" y="1463228"/>
                    <a:pt x="0" y="1437606"/>
                  </a:cubicBezTo>
                  <a:lnTo>
                    <a:pt x="0" y="96609"/>
                  </a:lnTo>
                  <a:cubicBezTo>
                    <a:pt x="0" y="70987"/>
                    <a:pt x="10178" y="46414"/>
                    <a:pt x="28296" y="28296"/>
                  </a:cubicBezTo>
                  <a:cubicBezTo>
                    <a:pt x="46414" y="10178"/>
                    <a:pt x="70987" y="0"/>
                    <a:pt x="9660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68491" cy="1572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49148" y="3057525"/>
            <a:ext cx="3189704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2091976" y="2710917"/>
            <a:ext cx="4734107" cy="5825221"/>
            <a:chOff x="0" y="0"/>
            <a:chExt cx="1068491" cy="15342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8491" cy="1534215"/>
            </a:xfrm>
            <a:custGeom>
              <a:avLst/>
              <a:gdLst/>
              <a:ahLst/>
              <a:cxnLst/>
              <a:rect l="l" t="t" r="r" b="b"/>
              <a:pathLst>
                <a:path w="1068491" h="1534215">
                  <a:moveTo>
                    <a:pt x="96609" y="0"/>
                  </a:moveTo>
                  <a:lnTo>
                    <a:pt x="971882" y="0"/>
                  </a:lnTo>
                  <a:cubicBezTo>
                    <a:pt x="1025238" y="0"/>
                    <a:pt x="1068491" y="43253"/>
                    <a:pt x="1068491" y="96609"/>
                  </a:cubicBezTo>
                  <a:lnTo>
                    <a:pt x="1068491" y="1437606"/>
                  </a:lnTo>
                  <a:cubicBezTo>
                    <a:pt x="1068491" y="1463228"/>
                    <a:pt x="1058312" y="1487801"/>
                    <a:pt x="1040195" y="1505919"/>
                  </a:cubicBezTo>
                  <a:cubicBezTo>
                    <a:pt x="1022077" y="1524036"/>
                    <a:pt x="997504" y="1534215"/>
                    <a:pt x="971882" y="1534215"/>
                  </a:cubicBezTo>
                  <a:lnTo>
                    <a:pt x="96609" y="1534215"/>
                  </a:lnTo>
                  <a:cubicBezTo>
                    <a:pt x="70987" y="1534215"/>
                    <a:pt x="46414" y="1524036"/>
                    <a:pt x="28296" y="1505919"/>
                  </a:cubicBezTo>
                  <a:cubicBezTo>
                    <a:pt x="10178" y="1487801"/>
                    <a:pt x="0" y="1463228"/>
                    <a:pt x="0" y="1437606"/>
                  </a:cubicBezTo>
                  <a:lnTo>
                    <a:pt x="0" y="96609"/>
                  </a:lnTo>
                  <a:cubicBezTo>
                    <a:pt x="0" y="70987"/>
                    <a:pt x="10178" y="46414"/>
                    <a:pt x="28296" y="28296"/>
                  </a:cubicBezTo>
                  <a:cubicBezTo>
                    <a:pt x="46414" y="10178"/>
                    <a:pt x="70987" y="0"/>
                    <a:pt x="9660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68491" cy="1572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202768" y="3057525"/>
            <a:ext cx="3189704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-47670" y="0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6" name="TextBox 25"/>
          <p:cNvSpPr txBox="1"/>
          <p:nvPr/>
        </p:nvSpPr>
        <p:spPr>
          <a:xfrm>
            <a:off x="2389980" y="2953124"/>
            <a:ext cx="331243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Netflix TV shows and movies dataset from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uncover patterns and insights.</a:t>
            </a:r>
          </a:p>
          <a:p>
            <a:pPr marL="514350" indent="-514350">
              <a:buFont typeface="+mj-lt"/>
              <a:buAutoNum type="romanUcPeriod"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UcPeriod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includes data cleaning, exploration, and visualization of features like type, genre, release year, and </a:t>
            </a:r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</a:p>
          <a:p>
            <a:pPr marL="514350" indent="-514350">
              <a:buFont typeface="+mj-lt"/>
              <a:buAutoNum type="romanUcPeriod"/>
            </a:pP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UcPeriod"/>
            </a:pPr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feature 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to transform raw data into usable formats (e.g., converting durations into minutes).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62250" y="3396016"/>
            <a:ext cx="34788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UcPeriod" startAt="4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outliers and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group-wise statistics to understand differences in content types</a:t>
            </a:r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romanUcPeriod" startAt="4"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UcPeriod" startAt="4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simple predictive model (linear regression) to explore relationships between features</a:t>
            </a:r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romanUcPeriod" startAt="4"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UcPeriod" startAt="4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insights and a better understanding of Netflix content trends through data analytics.</a:t>
            </a:r>
            <a:endParaRPr lang="en-GB" sz="20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6673" y="2950520"/>
            <a:ext cx="4504711" cy="527908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6559" y="1154175"/>
            <a:ext cx="1108606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Data flow diagram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997348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716000" y="7353300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-47670" y="0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545" y="2253444"/>
            <a:ext cx="112014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220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40286" y="1846773"/>
            <a:ext cx="13993900" cy="3099579"/>
            <a:chOff x="0" y="0"/>
            <a:chExt cx="3685636" cy="5726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85636" cy="572663"/>
            </a:xfrm>
            <a:custGeom>
              <a:avLst/>
              <a:gdLst/>
              <a:ahLst/>
              <a:cxnLst/>
              <a:rect l="l" t="t" r="r" b="b"/>
              <a:pathLst>
                <a:path w="3685636" h="572663">
                  <a:moveTo>
                    <a:pt x="28008" y="0"/>
                  </a:moveTo>
                  <a:lnTo>
                    <a:pt x="3657629" y="0"/>
                  </a:lnTo>
                  <a:cubicBezTo>
                    <a:pt x="3665057" y="0"/>
                    <a:pt x="3672181" y="2951"/>
                    <a:pt x="3677433" y="8203"/>
                  </a:cubicBezTo>
                  <a:cubicBezTo>
                    <a:pt x="3682686" y="13456"/>
                    <a:pt x="3685636" y="20579"/>
                    <a:pt x="3685636" y="28008"/>
                  </a:cubicBezTo>
                  <a:lnTo>
                    <a:pt x="3685636" y="544655"/>
                  </a:lnTo>
                  <a:cubicBezTo>
                    <a:pt x="3685636" y="560123"/>
                    <a:pt x="3673097" y="572663"/>
                    <a:pt x="3657629" y="572663"/>
                  </a:cubicBezTo>
                  <a:lnTo>
                    <a:pt x="28008" y="572663"/>
                  </a:lnTo>
                  <a:cubicBezTo>
                    <a:pt x="12539" y="572663"/>
                    <a:pt x="0" y="560123"/>
                    <a:pt x="0" y="544655"/>
                  </a:cubicBezTo>
                  <a:lnTo>
                    <a:pt x="0" y="28008"/>
                  </a:lnTo>
                  <a:cubicBezTo>
                    <a:pt x="0" y="12539"/>
                    <a:pt x="12539" y="0"/>
                    <a:pt x="2800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85636" cy="610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143000" y="85725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59000" y="8013655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657600" y="855726"/>
            <a:ext cx="7692571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Methodology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68678" y="3327322"/>
            <a:ext cx="13197006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40286" y="5651202"/>
            <a:ext cx="14023845" cy="3149898"/>
            <a:chOff x="0" y="0"/>
            <a:chExt cx="3685636" cy="5726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85636" cy="572663"/>
            </a:xfrm>
            <a:custGeom>
              <a:avLst/>
              <a:gdLst/>
              <a:ahLst/>
              <a:cxnLst/>
              <a:rect l="l" t="t" r="r" b="b"/>
              <a:pathLst>
                <a:path w="3685636" h="572663">
                  <a:moveTo>
                    <a:pt x="28008" y="0"/>
                  </a:moveTo>
                  <a:lnTo>
                    <a:pt x="3657629" y="0"/>
                  </a:lnTo>
                  <a:cubicBezTo>
                    <a:pt x="3665057" y="0"/>
                    <a:pt x="3672181" y="2951"/>
                    <a:pt x="3677433" y="8203"/>
                  </a:cubicBezTo>
                  <a:cubicBezTo>
                    <a:pt x="3682686" y="13456"/>
                    <a:pt x="3685636" y="20579"/>
                    <a:pt x="3685636" y="28008"/>
                  </a:cubicBezTo>
                  <a:lnTo>
                    <a:pt x="3685636" y="544655"/>
                  </a:lnTo>
                  <a:cubicBezTo>
                    <a:pt x="3685636" y="560123"/>
                    <a:pt x="3673097" y="572663"/>
                    <a:pt x="3657629" y="572663"/>
                  </a:cubicBezTo>
                  <a:lnTo>
                    <a:pt x="28008" y="572663"/>
                  </a:lnTo>
                  <a:cubicBezTo>
                    <a:pt x="12539" y="572663"/>
                    <a:pt x="0" y="560123"/>
                    <a:pt x="0" y="544655"/>
                  </a:cubicBezTo>
                  <a:lnTo>
                    <a:pt x="0" y="28008"/>
                  </a:lnTo>
                  <a:cubicBezTo>
                    <a:pt x="0" y="12539"/>
                    <a:pt x="12539" y="0"/>
                    <a:pt x="2800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85636" cy="610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791859" y="6206501"/>
            <a:ext cx="13197006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68678" y="5881867"/>
            <a:ext cx="1279992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UcPeriod" startAt="5"/>
            </a:pPr>
            <a:r>
              <a:rPr lang="en-GB" sz="2000" b="1" u="sng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en-GB" sz="2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Engineering: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duration data into numerical minutes for better analysis.</a:t>
            </a:r>
          </a:p>
          <a:p>
            <a:pPr marL="514350" indent="-514350">
              <a:buFont typeface="+mj-lt"/>
              <a:buAutoNum type="romanUcPeriod" startAt="5"/>
            </a:pPr>
            <a:r>
              <a:rPr lang="en-GB" sz="2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Detection: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unusual data points using statistical techniques to clean the dataset.</a:t>
            </a:r>
          </a:p>
          <a:p>
            <a:pPr marL="514350" indent="-514350">
              <a:buFont typeface="+mj-lt"/>
              <a:buAutoNum type="romanUcPeriod" startAt="5"/>
            </a:pPr>
            <a:r>
              <a:rPr lang="en-GB" sz="2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Group-wise Analysis: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release years and other features across content types (movies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TV shows).</a:t>
            </a:r>
          </a:p>
          <a:p>
            <a:pPr marL="514350" indent="-514350">
              <a:buFont typeface="+mj-lt"/>
              <a:buAutoNum type="romanUcPeriod" startAt="5"/>
            </a:pPr>
            <a:r>
              <a:rPr lang="en-GB" sz="2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lang="en-GB" sz="2000" b="1" u="sng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2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linear regression to predict release year based on duration and content type.</a:t>
            </a:r>
            <a:endParaRPr lang="en-GB" sz="20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68678" y="2117821"/>
            <a:ext cx="1332018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GB" sz="2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Netflix TV shows and movies dataset from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KaggleHub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romanUcPeriod"/>
            </a:pPr>
            <a:r>
              <a:rPr lang="en-GB" sz="2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Loading:</a:t>
            </a:r>
            <a:br>
              <a:rPr lang="en-GB" sz="2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the dataset into Python using pandas for easy manipulation.</a:t>
            </a:r>
          </a:p>
          <a:p>
            <a:pPr marL="514350" indent="-514350">
              <a:buFont typeface="+mj-lt"/>
              <a:buAutoNum type="romanUcPeriod"/>
            </a:pPr>
            <a:r>
              <a:rPr lang="en-GB" sz="2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Exploration: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Inspect the data structure, check for missing values, and understand feature distributions using summary statistics.</a:t>
            </a:r>
          </a:p>
          <a:p>
            <a:pPr marL="514350" indent="-514350">
              <a:buFont typeface="+mj-lt"/>
              <a:buAutoNum type="romanUcPeriod"/>
            </a:pPr>
            <a:r>
              <a:rPr lang="en-GB" sz="2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charts to visualize categorical features (type, genre), release years, and durations to identify patterns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82800" y="8229600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310274" y="1042209"/>
            <a:ext cx="9106698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Implementation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10"/>
          <a:stretch>
            <a:fillRect/>
          </a:stretch>
        </p:blipFill>
        <p:spPr>
          <a:xfrm>
            <a:off x="1637631" y="2009140"/>
            <a:ext cx="6747041" cy="6248400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11"/>
          <a:stretch>
            <a:fillRect/>
          </a:stretch>
        </p:blipFill>
        <p:spPr>
          <a:xfrm>
            <a:off x="9525000" y="2009140"/>
            <a:ext cx="6705599" cy="6868160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>
            <a:off x="7848600" y="5981700"/>
            <a:ext cx="2209800" cy="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-2602331" y="-17145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676400" y="944837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82800" y="8229600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310274" y="1042209"/>
            <a:ext cx="9106698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Implementation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10"/>
          <a:stretch>
            <a:fillRect/>
          </a:stretch>
        </p:blipFill>
        <p:spPr>
          <a:xfrm>
            <a:off x="1028136" y="2095500"/>
            <a:ext cx="6820464" cy="71628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4299" y="2081204"/>
            <a:ext cx="7353330" cy="7177096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V="1">
            <a:off x="7010400" y="9029700"/>
            <a:ext cx="1828800" cy="2924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4968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82800" y="8229600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99144" y="843760"/>
            <a:ext cx="9106698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Implementation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7848600" y="5981700"/>
            <a:ext cx="2209800" cy="0"/>
          </a:xfrm>
          <a:prstGeom prst="straightConnector1">
            <a:avLst/>
          </a:prstGeom>
          <a:ln w="762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/>
          <p:nvPr/>
        </p:nvPicPr>
        <p:blipFill>
          <a:blip r:embed="rId10"/>
          <a:stretch>
            <a:fillRect/>
          </a:stretch>
        </p:blipFill>
        <p:spPr>
          <a:xfrm>
            <a:off x="3730486" y="1943101"/>
            <a:ext cx="9909313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127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82800" y="8229600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99144" y="843760"/>
            <a:ext cx="9106698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Implementation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10"/>
          <a:stretch>
            <a:fillRect/>
          </a:stretch>
        </p:blipFill>
        <p:spPr>
          <a:xfrm>
            <a:off x="3952133" y="1664078"/>
            <a:ext cx="9340731" cy="814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4792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82800" y="8229600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99144" y="843760"/>
            <a:ext cx="9106698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Implementation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10"/>
          <a:stretch>
            <a:fillRect/>
          </a:stretch>
        </p:blipFill>
        <p:spPr>
          <a:xfrm>
            <a:off x="3716450" y="1690146"/>
            <a:ext cx="8991600" cy="726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676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-1036012" y="-315509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782111" y="7851594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940478" y="6896100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99144" y="843760"/>
            <a:ext cx="9106698" cy="898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 smtClean="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INTERPRETATION</a:t>
            </a:r>
            <a:endParaRPr lang="en-US" sz="6846" dirty="0">
              <a:solidFill>
                <a:srgbClr val="090147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24200" y="2171700"/>
            <a:ext cx="10591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b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Movies vs. TV Shows: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data has more movies (64%) than TV shows (36%).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Genre Diversity: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Lots of genres—Action, Adventure, Anime, International, Kids’ TV—catering to many tastes.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 Year Trends: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spans from 1961 to 2021, with most growth after 2015.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by Year: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years.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Movies cover more years; TV shows are newer (mostly after 2010).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 Patterns: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content runs between 13 and 403 minutes; longer shows appear in recent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Correlations: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links between duration and year—newer titles tend to be a bit shorter.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Model: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and type explain only 13% of release year variation; other factors matter too.</a:t>
            </a:r>
            <a:endParaRPr lang="en-GB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6435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74460" y="2871338"/>
            <a:ext cx="5271005" cy="5133871"/>
            <a:chOff x="0" y="0"/>
            <a:chExt cx="1388248" cy="1352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8248" cy="1352131"/>
            </a:xfrm>
            <a:custGeom>
              <a:avLst/>
              <a:gdLst/>
              <a:ahLst/>
              <a:cxnLst/>
              <a:rect l="l" t="t" r="r" b="b"/>
              <a:pathLst>
                <a:path w="1388248" h="1352131">
                  <a:moveTo>
                    <a:pt x="74357" y="0"/>
                  </a:moveTo>
                  <a:lnTo>
                    <a:pt x="1313892" y="0"/>
                  </a:lnTo>
                  <a:cubicBezTo>
                    <a:pt x="1333612" y="0"/>
                    <a:pt x="1352525" y="7834"/>
                    <a:pt x="1366470" y="21779"/>
                  </a:cubicBezTo>
                  <a:cubicBezTo>
                    <a:pt x="1380414" y="35723"/>
                    <a:pt x="1388248" y="54636"/>
                    <a:pt x="1388248" y="74357"/>
                  </a:cubicBezTo>
                  <a:lnTo>
                    <a:pt x="1388248" y="1277774"/>
                  </a:lnTo>
                  <a:cubicBezTo>
                    <a:pt x="1388248" y="1318840"/>
                    <a:pt x="1354958" y="1352131"/>
                    <a:pt x="1313892" y="1352131"/>
                  </a:cubicBezTo>
                  <a:lnTo>
                    <a:pt x="74357" y="1352131"/>
                  </a:lnTo>
                  <a:cubicBezTo>
                    <a:pt x="54636" y="1352131"/>
                    <a:pt x="35723" y="1344297"/>
                    <a:pt x="21779" y="1330352"/>
                  </a:cubicBezTo>
                  <a:cubicBezTo>
                    <a:pt x="7834" y="1316407"/>
                    <a:pt x="0" y="1297495"/>
                    <a:pt x="0" y="1277774"/>
                  </a:cubicBezTo>
                  <a:lnTo>
                    <a:pt x="0" y="74357"/>
                  </a:lnTo>
                  <a:cubicBezTo>
                    <a:pt x="0" y="54636"/>
                    <a:pt x="7834" y="35723"/>
                    <a:pt x="21779" y="21779"/>
                  </a:cubicBezTo>
                  <a:cubicBezTo>
                    <a:pt x="35723" y="7834"/>
                    <a:pt x="54636" y="0"/>
                    <a:pt x="743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88248" cy="1390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07622" y="2928487"/>
            <a:ext cx="5271005" cy="5133871"/>
            <a:chOff x="0" y="0"/>
            <a:chExt cx="1388248" cy="1352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8248" cy="1352131"/>
            </a:xfrm>
            <a:custGeom>
              <a:avLst/>
              <a:gdLst/>
              <a:ahLst/>
              <a:cxnLst/>
              <a:rect l="l" t="t" r="r" b="b"/>
              <a:pathLst>
                <a:path w="1388248" h="1352131">
                  <a:moveTo>
                    <a:pt x="74357" y="0"/>
                  </a:moveTo>
                  <a:lnTo>
                    <a:pt x="1313892" y="0"/>
                  </a:lnTo>
                  <a:cubicBezTo>
                    <a:pt x="1333612" y="0"/>
                    <a:pt x="1352525" y="7834"/>
                    <a:pt x="1366470" y="21779"/>
                  </a:cubicBezTo>
                  <a:cubicBezTo>
                    <a:pt x="1380414" y="35723"/>
                    <a:pt x="1388248" y="54636"/>
                    <a:pt x="1388248" y="74357"/>
                  </a:cubicBezTo>
                  <a:lnTo>
                    <a:pt x="1388248" y="1277774"/>
                  </a:lnTo>
                  <a:cubicBezTo>
                    <a:pt x="1388248" y="1318840"/>
                    <a:pt x="1354958" y="1352131"/>
                    <a:pt x="1313892" y="1352131"/>
                  </a:cubicBezTo>
                  <a:lnTo>
                    <a:pt x="74357" y="1352131"/>
                  </a:lnTo>
                  <a:cubicBezTo>
                    <a:pt x="54636" y="1352131"/>
                    <a:pt x="35723" y="1344297"/>
                    <a:pt x="21779" y="1330352"/>
                  </a:cubicBezTo>
                  <a:cubicBezTo>
                    <a:pt x="7834" y="1316407"/>
                    <a:pt x="0" y="1297495"/>
                    <a:pt x="0" y="1277774"/>
                  </a:cubicBezTo>
                  <a:lnTo>
                    <a:pt x="0" y="74357"/>
                  </a:lnTo>
                  <a:cubicBezTo>
                    <a:pt x="0" y="54636"/>
                    <a:pt x="7834" y="35723"/>
                    <a:pt x="21779" y="21779"/>
                  </a:cubicBezTo>
                  <a:cubicBezTo>
                    <a:pt x="35723" y="7834"/>
                    <a:pt x="54636" y="0"/>
                    <a:pt x="743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2385">
                    <a:alpha val="100000"/>
                  </a:srgbClr>
                </a:gs>
                <a:gs pos="100000">
                  <a:srgbClr val="2D8BB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88248" cy="1390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696525" y="-50561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939855" y="6204779"/>
            <a:ext cx="7075330" cy="6818045"/>
          </a:xfrm>
          <a:custGeom>
            <a:avLst/>
            <a:gdLst/>
            <a:ahLst/>
            <a:cxnLst/>
            <a:rect l="l" t="t" r="r" b="b"/>
            <a:pathLst>
              <a:path w="7075330" h="6818045">
                <a:moveTo>
                  <a:pt x="0" y="0"/>
                </a:moveTo>
                <a:lnTo>
                  <a:pt x="7075330" y="0"/>
                </a:lnTo>
                <a:lnTo>
                  <a:pt x="7075330" y="6818045"/>
                </a:lnTo>
                <a:lnTo>
                  <a:pt x="0" y="6818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871030" y="1042209"/>
            <a:ext cx="6545941" cy="102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41803" y="3280313"/>
            <a:ext cx="4083401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918448" y="3280313"/>
            <a:ext cx="4083401" cy="33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endParaRPr lang="en-US" sz="1995" spc="21" dirty="0">
              <a:solidFill>
                <a:srgbClr val="FFFFFF"/>
              </a:solidFill>
              <a:latin typeface="Krub"/>
              <a:ea typeface="Krub"/>
              <a:cs typeface="Krub"/>
              <a:sym typeface="Krub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946654" y="3280313"/>
            <a:ext cx="365320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explored Netflix shows and movies data to find interesting trends</a:t>
            </a:r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lphaLcParenR"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Visuals and data cleaning helped reveal clear patterns</a:t>
            </a:r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lphaLcParenR"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a simple model to predict release year using key features</a:t>
            </a:r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lphaLcParenR"/>
            </a:pP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shows how data analysis uncovers stories hidden in big datasets.</a:t>
            </a:r>
            <a:endParaRPr lang="en-GB" sz="20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4199" y="3086100"/>
            <a:ext cx="4857849" cy="4800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95833" y="3295608"/>
            <a:ext cx="13096334" cy="373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87"/>
              </a:lnSpc>
            </a:pPr>
            <a:r>
              <a:rPr lang="en-US" sz="13698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Question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4000" y="7200900"/>
            <a:ext cx="2232279" cy="4114800"/>
          </a:xfrm>
          <a:custGeom>
            <a:avLst/>
            <a:gdLst/>
            <a:ahLst/>
            <a:cxnLst/>
            <a:rect l="l" t="t" r="r" b="b"/>
            <a:pathLst>
              <a:path w="2232279" h="4114800">
                <a:moveTo>
                  <a:pt x="0" y="0"/>
                </a:moveTo>
                <a:lnTo>
                  <a:pt x="2232279" y="0"/>
                </a:lnTo>
                <a:lnTo>
                  <a:pt x="22322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576126">
            <a:off x="5029527" y="-2057400"/>
            <a:ext cx="2232279" cy="4114800"/>
          </a:xfrm>
          <a:custGeom>
            <a:avLst/>
            <a:gdLst/>
            <a:ahLst/>
            <a:cxnLst/>
            <a:rect l="l" t="t" r="r" b="b"/>
            <a:pathLst>
              <a:path w="2232279" h="4114800">
                <a:moveTo>
                  <a:pt x="0" y="0"/>
                </a:moveTo>
                <a:lnTo>
                  <a:pt x="2232279" y="0"/>
                </a:lnTo>
                <a:lnTo>
                  <a:pt x="22322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6319" y="2923886"/>
            <a:ext cx="10486600" cy="4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14"/>
              </a:lnSpc>
            </a:pPr>
            <a:r>
              <a:rPr lang="en-US" sz="16407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Thank Tou</a:t>
            </a:r>
          </a:p>
        </p:txBody>
      </p:sp>
      <p:sp>
        <p:nvSpPr>
          <p:cNvPr id="3" name="Freeform 3"/>
          <p:cNvSpPr/>
          <p:nvPr/>
        </p:nvSpPr>
        <p:spPr>
          <a:xfrm>
            <a:off x="-652637" y="-721895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208884" y="7041092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3" y="0"/>
                </a:lnTo>
                <a:lnTo>
                  <a:pt x="5174923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22918" y="4783378"/>
            <a:ext cx="6733446" cy="7030847"/>
          </a:xfrm>
          <a:custGeom>
            <a:avLst/>
            <a:gdLst/>
            <a:ahLst/>
            <a:cxnLst/>
            <a:rect l="l" t="t" r="r" b="b"/>
            <a:pathLst>
              <a:path w="6733446" h="7030847">
                <a:moveTo>
                  <a:pt x="0" y="0"/>
                </a:moveTo>
                <a:lnTo>
                  <a:pt x="6733447" y="0"/>
                </a:lnTo>
                <a:lnTo>
                  <a:pt x="6733447" y="7030846"/>
                </a:lnTo>
                <a:lnTo>
                  <a:pt x="0" y="7030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82600" y="-1557683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2" y="0"/>
                </a:lnTo>
                <a:lnTo>
                  <a:pt x="5174922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00712" y="-1889926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321493">
            <a:off x="6300712" y="8352127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381</Words>
  <Application>Microsoft Office PowerPoint</Application>
  <PresentationFormat>Custom</PresentationFormat>
  <Paragraphs>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Times New Roman</vt:lpstr>
      <vt:lpstr>Bungee</vt:lpstr>
      <vt:lpstr>Krub Bold</vt:lpstr>
      <vt:lpstr>Arial</vt:lpstr>
      <vt:lpstr>Krub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Engineering Technology Group Project Presentation</dc:title>
  <dc:creator>Devanshu upadhyay</dc:creator>
  <cp:lastModifiedBy>Devanshu upadhyay</cp:lastModifiedBy>
  <cp:revision>52</cp:revision>
  <dcterms:created xsi:type="dcterms:W3CDTF">2006-08-16T00:00:00Z</dcterms:created>
  <dcterms:modified xsi:type="dcterms:W3CDTF">2025-08-18T06:00:28Z</dcterms:modified>
  <dc:identifier>DAGv6g3rV2g</dc:identifier>
</cp:coreProperties>
</file>